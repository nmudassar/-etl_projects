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0" d="100"/>
          <a:sy n="70" d="100"/>
        </p:scale>
        <p:origin x="830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42996" y="4267832"/>
            <a:ext cx="3604497" cy="1297115"/>
          </a:xfrm>
        </p:spPr>
        <p:txBody>
          <a:bodyPr anchor="t">
            <a:normAutofit/>
          </a:bodyPr>
          <a:lstStyle/>
          <a:p>
            <a:pPr algn="l"/>
            <a:r>
              <a:rPr lang="en-GB" sz="3500" dirty="0" err="1">
                <a:solidFill>
                  <a:schemeClr val="tx2"/>
                </a:solidFill>
              </a:rPr>
              <a:t>Retailio</a:t>
            </a:r>
            <a:r>
              <a:rPr lang="en-GB" sz="3500" dirty="0">
                <a:solidFill>
                  <a:schemeClr val="tx2"/>
                </a:solidFill>
              </a:rPr>
              <a:t> ETL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43224" y="3428999"/>
            <a:ext cx="3604268" cy="838831"/>
          </a:xfrm>
        </p:spPr>
        <p:txBody>
          <a:bodyPr anchor="b">
            <a:normAutofit/>
          </a:bodyPr>
          <a:lstStyle/>
          <a:p>
            <a:pPr algn="l"/>
            <a:r>
              <a:rPr lang="en-GB" sz="1700" dirty="0">
                <a:solidFill>
                  <a:schemeClr val="tx2"/>
                </a:solidFill>
              </a:rPr>
              <a:t>AWS S3 → </a:t>
            </a:r>
            <a:r>
              <a:rPr lang="en-GB" sz="1700" dirty="0" err="1">
                <a:solidFill>
                  <a:schemeClr val="tx2"/>
                </a:solidFill>
              </a:rPr>
              <a:t>Airbyte</a:t>
            </a:r>
            <a:r>
              <a:rPr lang="en-GB" sz="1700" dirty="0">
                <a:solidFill>
                  <a:schemeClr val="tx2"/>
                </a:solidFill>
              </a:rPr>
              <a:t> Cloud → </a:t>
            </a:r>
            <a:r>
              <a:rPr lang="en-GB" sz="1700" dirty="0" err="1">
                <a:solidFill>
                  <a:schemeClr val="tx2"/>
                </a:solidFill>
              </a:rPr>
              <a:t>MotherDuck</a:t>
            </a:r>
            <a:endParaRPr lang="en-GB" sz="1700" dirty="0">
              <a:solidFill>
                <a:schemeClr val="tx2"/>
              </a:solidFill>
            </a:endParaRPr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E63F5D15-A497-F628-BA1C-9B1FC2DCC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8167"/>
            <a:ext cx="3625552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0943" y="991261"/>
            <a:ext cx="4316022" cy="1837349"/>
          </a:xfrm>
        </p:spPr>
        <p:txBody>
          <a:bodyPr>
            <a:normAutofit/>
          </a:bodyPr>
          <a:lstStyle/>
          <a:p>
            <a:r>
              <a:rPr lang="en-GB" sz="3100" dirty="0">
                <a:solidFill>
                  <a:schemeClr val="tx2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7809" y="2979336"/>
            <a:ext cx="4282290" cy="24308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GB" sz="14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Business Overview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Aim of the Project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Architecture Diagram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AWS S3 Data Storage</a:t>
            </a:r>
          </a:p>
          <a:p>
            <a:pPr>
              <a:lnSpc>
                <a:spcPct val="90000"/>
              </a:lnSpc>
            </a:pPr>
            <a:r>
              <a:rPr lang="en-GB" sz="1400" dirty="0" err="1">
                <a:solidFill>
                  <a:schemeClr val="tx2"/>
                </a:solidFill>
              </a:rPr>
              <a:t>Airbyte</a:t>
            </a:r>
            <a:r>
              <a:rPr lang="en-GB" sz="1400" dirty="0">
                <a:solidFill>
                  <a:schemeClr val="tx2"/>
                </a:solidFill>
              </a:rPr>
              <a:t> Integration</a:t>
            </a:r>
          </a:p>
          <a:p>
            <a:pPr>
              <a:lnSpc>
                <a:spcPct val="90000"/>
              </a:lnSpc>
            </a:pPr>
            <a:r>
              <a:rPr lang="en-GB" sz="1400" dirty="0" err="1">
                <a:solidFill>
                  <a:schemeClr val="tx2"/>
                </a:solidFill>
              </a:rPr>
              <a:t>MotherDuck</a:t>
            </a:r>
            <a:r>
              <a:rPr lang="en-GB" sz="1400" dirty="0">
                <a:solidFill>
                  <a:schemeClr val="tx2"/>
                </a:solidFill>
              </a:rPr>
              <a:t> Warehouse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Automation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Cloud-Native Architecture</a:t>
            </a:r>
          </a:p>
          <a:p>
            <a:pPr>
              <a:lnSpc>
                <a:spcPct val="90000"/>
              </a:lnSpc>
            </a:pPr>
            <a:r>
              <a:rPr lang="en-GB" sz="1400" dirty="0">
                <a:solidFill>
                  <a:schemeClr val="tx2"/>
                </a:solidFill>
              </a:rPr>
              <a:t>Conclusion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4146310"/>
            <a:ext cx="23568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8167"/>
            <a:ext cx="3625552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0943" y="991261"/>
            <a:ext cx="4316022" cy="1837349"/>
          </a:xfrm>
        </p:spPr>
        <p:txBody>
          <a:bodyPr>
            <a:normAutofit/>
          </a:bodyPr>
          <a:lstStyle/>
          <a:p>
            <a:r>
              <a:rPr lang="en-GB" sz="3100" dirty="0">
                <a:solidFill>
                  <a:schemeClr val="tx2"/>
                </a:solidFill>
              </a:rPr>
              <a:t>Business Overview /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7809" y="2979336"/>
            <a:ext cx="4282290" cy="2430864"/>
          </a:xfrm>
        </p:spPr>
        <p:txBody>
          <a:bodyPr anchor="t">
            <a:normAutofit/>
          </a:bodyPr>
          <a:lstStyle/>
          <a:p>
            <a:endParaRPr lang="en-GB" sz="1700" dirty="0">
              <a:solidFill>
                <a:schemeClr val="tx2"/>
              </a:solidFill>
            </a:endParaRPr>
          </a:p>
          <a:p>
            <a:r>
              <a:rPr lang="en-GB" sz="1700" dirty="0">
                <a:solidFill>
                  <a:schemeClr val="tx2"/>
                </a:solidFill>
              </a:rPr>
              <a:t>Manual CSV uploads cause delays and errors</a:t>
            </a:r>
          </a:p>
          <a:p>
            <a:r>
              <a:rPr lang="en-GB" sz="1700" dirty="0">
                <a:solidFill>
                  <a:schemeClr val="tx2"/>
                </a:solidFill>
              </a:rPr>
              <a:t>Inconsistencies across branches</a:t>
            </a:r>
          </a:p>
          <a:p>
            <a:r>
              <a:rPr lang="en-GB" sz="1700" dirty="0">
                <a:solidFill>
                  <a:schemeClr val="tx2"/>
                </a:solidFill>
              </a:rPr>
              <a:t>No centralised repository</a:t>
            </a:r>
          </a:p>
          <a:p>
            <a:r>
              <a:rPr lang="en-GB" sz="1700" dirty="0">
                <a:solidFill>
                  <a:schemeClr val="tx2"/>
                </a:solidFill>
              </a:rPr>
              <a:t>Need for scalable cloud-based ETL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4146310"/>
            <a:ext cx="23568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8167"/>
            <a:ext cx="3625552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0943" y="991261"/>
            <a:ext cx="4316022" cy="1837349"/>
          </a:xfrm>
        </p:spPr>
        <p:txBody>
          <a:bodyPr>
            <a:normAutofit/>
          </a:bodyPr>
          <a:lstStyle/>
          <a:p>
            <a:r>
              <a:rPr lang="en-GB" sz="3100" dirty="0">
                <a:solidFill>
                  <a:schemeClr val="tx2"/>
                </a:solidFill>
              </a:rPr>
              <a:t>Aim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7809" y="2979336"/>
            <a:ext cx="4282290" cy="2430864"/>
          </a:xfrm>
        </p:spPr>
        <p:txBody>
          <a:bodyPr anchor="t">
            <a:normAutofit/>
          </a:bodyPr>
          <a:lstStyle/>
          <a:p>
            <a:endParaRPr lang="en-GB" sz="1700" dirty="0">
              <a:solidFill>
                <a:schemeClr val="tx2"/>
              </a:solidFill>
            </a:endParaRPr>
          </a:p>
          <a:p>
            <a:r>
              <a:rPr lang="en-GB" sz="1700" dirty="0">
                <a:solidFill>
                  <a:schemeClr val="tx2"/>
                </a:solidFill>
              </a:rPr>
              <a:t>Centralize data in AWS S3</a:t>
            </a:r>
          </a:p>
          <a:p>
            <a:r>
              <a:rPr lang="en-GB" sz="1700" dirty="0">
                <a:solidFill>
                  <a:schemeClr val="tx2"/>
                </a:solidFill>
              </a:rPr>
              <a:t>Automate ETL pipeline using </a:t>
            </a:r>
            <a:r>
              <a:rPr lang="en-GB" sz="1700" dirty="0" err="1">
                <a:solidFill>
                  <a:schemeClr val="tx2"/>
                </a:solidFill>
              </a:rPr>
              <a:t>Airbyte</a:t>
            </a:r>
            <a:endParaRPr lang="en-GB" sz="1700" dirty="0">
              <a:solidFill>
                <a:schemeClr val="tx2"/>
              </a:solidFill>
            </a:endParaRPr>
          </a:p>
          <a:p>
            <a:r>
              <a:rPr lang="en-GB" sz="1700" dirty="0">
                <a:solidFill>
                  <a:schemeClr val="tx2"/>
                </a:solidFill>
              </a:rPr>
              <a:t>Build warehouse in </a:t>
            </a:r>
            <a:r>
              <a:rPr lang="en-GB" sz="1700" dirty="0" err="1">
                <a:solidFill>
                  <a:schemeClr val="tx2"/>
                </a:solidFill>
              </a:rPr>
              <a:t>MotherDuck</a:t>
            </a:r>
            <a:endParaRPr lang="en-GB" sz="1700" dirty="0">
              <a:solidFill>
                <a:schemeClr val="tx2"/>
              </a:solidFill>
            </a:endParaRPr>
          </a:p>
          <a:p>
            <a:r>
              <a:rPr lang="en-GB" sz="1700" dirty="0">
                <a:solidFill>
                  <a:schemeClr val="tx2"/>
                </a:solidFill>
              </a:rPr>
              <a:t>Enable fast insights and decisions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4146310"/>
            <a:ext cx="23568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42996" y="4267832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Architecture Diagram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9F416D-6A8F-E268-1688-B42051C7F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09" y="903514"/>
            <a:ext cx="3116720" cy="5171609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02955"/>
            <a:ext cx="3574747" cy="1454051"/>
          </a:xfrm>
        </p:spPr>
        <p:txBody>
          <a:bodyPr>
            <a:normAutofit/>
          </a:bodyPr>
          <a:lstStyle/>
          <a:p>
            <a:r>
              <a:rPr lang="en-GB" sz="3100" dirty="0">
                <a:solidFill>
                  <a:schemeClr val="tx2"/>
                </a:solidFill>
              </a:rPr>
              <a:t>Data Storage – AWS S3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2421683"/>
            <a:ext cx="3574461" cy="3353476"/>
          </a:xfrm>
        </p:spPr>
        <p:txBody>
          <a:bodyPr anchor="t">
            <a:normAutofit/>
          </a:bodyPr>
          <a:lstStyle/>
          <a:p>
            <a:endParaRPr lang="en-GB" sz="1600">
              <a:solidFill>
                <a:schemeClr val="tx2"/>
              </a:solidFill>
            </a:endParaRPr>
          </a:p>
          <a:p>
            <a:r>
              <a:rPr lang="en-GB" sz="1600">
                <a:solidFill>
                  <a:schemeClr val="tx2"/>
                </a:solidFill>
              </a:rPr>
              <a:t>Central repository for raw datasets</a:t>
            </a:r>
          </a:p>
          <a:p>
            <a:r>
              <a:rPr lang="en-GB" sz="1600">
                <a:solidFill>
                  <a:schemeClr val="tx2"/>
                </a:solidFill>
              </a:rPr>
              <a:t>Versioning &amp; lifecycle rules</a:t>
            </a:r>
          </a:p>
          <a:p>
            <a:r>
              <a:rPr lang="en-GB" sz="1600">
                <a:solidFill>
                  <a:schemeClr val="tx2"/>
                </a:solidFill>
              </a:rPr>
              <a:t>Scalable and durable</a:t>
            </a:r>
          </a:p>
          <a:p>
            <a:r>
              <a:rPr lang="en-GB" sz="1600">
                <a:solidFill>
                  <a:schemeClr val="tx2"/>
                </a:solidFill>
              </a:rPr>
              <a:t>Organised folder hierarchy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Graphic 8" descr="Amazon Simple Storage Service (Amazon S3) service icon.">
            <a:extLst>
              <a:ext uri="{FF2B5EF4-FFF2-40B4-BE49-F238E27FC236}">
                <a16:creationId xmlns:a16="http://schemas.microsoft.com/office/drawing/2014/main" id="{39C91A0C-C24F-D5D8-5B00-BBE3BD83A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5781294" y="2337435"/>
            <a:ext cx="3106674" cy="3106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02955"/>
            <a:ext cx="3574747" cy="1454051"/>
          </a:xfrm>
        </p:spPr>
        <p:txBody>
          <a:bodyPr>
            <a:normAutofit/>
          </a:bodyPr>
          <a:lstStyle/>
          <a:p>
            <a:r>
              <a:rPr lang="en-GB" sz="3100">
                <a:solidFill>
                  <a:schemeClr val="tx2"/>
                </a:solidFill>
              </a:rPr>
              <a:t>Airbyte Cloud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2421683"/>
            <a:ext cx="3574461" cy="3353476"/>
          </a:xfrm>
        </p:spPr>
        <p:txBody>
          <a:bodyPr anchor="t">
            <a:normAutofit/>
          </a:bodyPr>
          <a:lstStyle/>
          <a:p>
            <a:endParaRPr lang="en-GB" sz="1600">
              <a:solidFill>
                <a:schemeClr val="tx2"/>
              </a:solidFill>
            </a:endParaRPr>
          </a:p>
          <a:p>
            <a:r>
              <a:rPr lang="en-GB" sz="1600">
                <a:solidFill>
                  <a:schemeClr val="tx2"/>
                </a:solidFill>
              </a:rPr>
              <a:t>Automated ingestion from S3</a:t>
            </a:r>
          </a:p>
          <a:p>
            <a:r>
              <a:rPr lang="en-GB" sz="1600">
                <a:solidFill>
                  <a:schemeClr val="tx2"/>
                </a:solidFill>
              </a:rPr>
              <a:t>Daily scheduled syncs</a:t>
            </a:r>
          </a:p>
          <a:p>
            <a:r>
              <a:rPr lang="en-GB" sz="1600">
                <a:solidFill>
                  <a:schemeClr val="tx2"/>
                </a:solidFill>
              </a:rPr>
              <a:t>Schema enforcement</a:t>
            </a:r>
          </a:p>
          <a:p>
            <a:r>
              <a:rPr lang="en-GB" sz="1600">
                <a:solidFill>
                  <a:schemeClr val="tx2"/>
                </a:solidFill>
              </a:rPr>
              <a:t>Automatic table creation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7DD6A09-CE39-11EE-FD3C-1F92458AC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294" y="2337435"/>
            <a:ext cx="3106674" cy="31066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02955"/>
            <a:ext cx="3574747" cy="1454051"/>
          </a:xfrm>
        </p:spPr>
        <p:txBody>
          <a:bodyPr>
            <a:normAutofit/>
          </a:bodyPr>
          <a:lstStyle/>
          <a:p>
            <a:r>
              <a:rPr lang="en-GB" sz="3100">
                <a:solidFill>
                  <a:schemeClr val="tx2"/>
                </a:solidFill>
              </a:rPr>
              <a:t>MotherDuck Warehouse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2421683"/>
            <a:ext cx="3574461" cy="3353476"/>
          </a:xfrm>
        </p:spPr>
        <p:txBody>
          <a:bodyPr anchor="t">
            <a:normAutofit/>
          </a:bodyPr>
          <a:lstStyle/>
          <a:p>
            <a:endParaRPr lang="en-GB" sz="1600">
              <a:solidFill>
                <a:schemeClr val="tx2"/>
              </a:solidFill>
            </a:endParaRPr>
          </a:p>
          <a:p>
            <a:r>
              <a:rPr lang="en-GB" sz="1600">
                <a:solidFill>
                  <a:schemeClr val="tx2"/>
                </a:solidFill>
              </a:rPr>
              <a:t>High-performance SQL engine</a:t>
            </a:r>
          </a:p>
          <a:p>
            <a:r>
              <a:rPr lang="en-GB" sz="1600">
                <a:solidFill>
                  <a:schemeClr val="tx2"/>
                </a:solidFill>
              </a:rPr>
              <a:t>Fast analytical queries</a:t>
            </a:r>
          </a:p>
          <a:p>
            <a:r>
              <a:rPr lang="en-GB" sz="1600">
                <a:solidFill>
                  <a:schemeClr val="tx2"/>
                </a:solidFill>
              </a:rPr>
              <a:t>Centralised analytics environment</a:t>
            </a:r>
          </a:p>
          <a:p>
            <a:r>
              <a:rPr lang="en-GB" sz="1600">
                <a:solidFill>
                  <a:schemeClr val="tx2"/>
                </a:solidFill>
              </a:rPr>
              <a:t>Scalable compute and storage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1016F4E-FED4-C43F-F397-12789FCFE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294" y="3051970"/>
            <a:ext cx="3106674" cy="16776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02955"/>
            <a:ext cx="3574747" cy="1454051"/>
          </a:xfrm>
        </p:spPr>
        <p:txBody>
          <a:bodyPr>
            <a:normAutofit/>
          </a:bodyPr>
          <a:lstStyle/>
          <a:p>
            <a:r>
              <a:rPr lang="en-GB" sz="3100" dirty="0">
                <a:solidFill>
                  <a:schemeClr val="tx2"/>
                </a:solidFill>
              </a:rPr>
              <a:t>Automation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2421683"/>
            <a:ext cx="3574461" cy="3353476"/>
          </a:xfrm>
        </p:spPr>
        <p:txBody>
          <a:bodyPr anchor="t">
            <a:normAutofit/>
          </a:bodyPr>
          <a:lstStyle/>
          <a:p>
            <a:endParaRPr lang="en-GB" sz="1600">
              <a:solidFill>
                <a:schemeClr val="tx2"/>
              </a:solidFill>
            </a:endParaRPr>
          </a:p>
          <a:p>
            <a:r>
              <a:rPr lang="en-GB" sz="1600">
                <a:solidFill>
                  <a:schemeClr val="tx2"/>
                </a:solidFill>
              </a:rPr>
              <a:t>Near real-time freshness</a:t>
            </a:r>
          </a:p>
          <a:p>
            <a:r>
              <a:rPr lang="en-GB" sz="1600">
                <a:solidFill>
                  <a:schemeClr val="tx2"/>
                </a:solidFill>
              </a:rPr>
              <a:t>Removes manual uploads</a:t>
            </a:r>
          </a:p>
          <a:p>
            <a:r>
              <a:rPr lang="en-GB" sz="1600">
                <a:solidFill>
                  <a:schemeClr val="tx2"/>
                </a:solidFill>
              </a:rPr>
              <a:t>Reduces delays in reporting</a:t>
            </a:r>
          </a:p>
          <a:p>
            <a:r>
              <a:rPr lang="en-GB" sz="1600">
                <a:solidFill>
                  <a:schemeClr val="tx2"/>
                </a:solidFill>
              </a:rPr>
              <a:t>Reliable, repeatable pipeline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63680" y="-16714"/>
            <a:ext cx="4780320" cy="6874714"/>
            <a:chOff x="5818240" y="-1"/>
            <a:chExt cx="6373761" cy="6874714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BB4CF23-3B90-AC5B-987F-980CCC959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294" y="3180120"/>
            <a:ext cx="3106674" cy="14213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GB" sz="350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endParaRPr lang="en-GB" sz="1700"/>
          </a:p>
          <a:p>
            <a:r>
              <a:rPr lang="en-GB" sz="1700"/>
              <a:t>Modern automated ETL pipeline implemented</a:t>
            </a:r>
          </a:p>
          <a:p>
            <a:r>
              <a:rPr lang="en-GB" sz="1700"/>
              <a:t>Data centralised and analytics-ready</a:t>
            </a:r>
          </a:p>
          <a:p>
            <a:r>
              <a:rPr lang="en-GB" sz="1700"/>
              <a:t>Supports scalable, future-proof architecture</a:t>
            </a:r>
          </a:p>
          <a:p>
            <a:r>
              <a:rPr lang="en-GB" sz="1700"/>
              <a:t>Enables accurate and timely decision-making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6928866-AA23-DDC4-9715-4B75328CB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3" r="13076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164</Words>
  <Application>Microsoft Office PowerPoint</Application>
  <PresentationFormat>On-screen Show (4:3)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Retailio ETL Pipeline</vt:lpstr>
      <vt:lpstr>Agenda</vt:lpstr>
      <vt:lpstr>Business Overview / Problem</vt:lpstr>
      <vt:lpstr>Aim of the Project</vt:lpstr>
      <vt:lpstr>Architecture Diagram</vt:lpstr>
      <vt:lpstr>Data Storage – AWS S3</vt:lpstr>
      <vt:lpstr>Airbyte Cloud Integration</vt:lpstr>
      <vt:lpstr>MotherDuck Warehouse</vt:lpstr>
      <vt:lpstr>Automation Benefits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Nadia Mudassar</cp:lastModifiedBy>
  <cp:revision>3</cp:revision>
  <dcterms:created xsi:type="dcterms:W3CDTF">2013-01-27T09:14:16Z</dcterms:created>
  <dcterms:modified xsi:type="dcterms:W3CDTF">2025-11-19T00:53:14Z</dcterms:modified>
  <cp:category/>
</cp:coreProperties>
</file>